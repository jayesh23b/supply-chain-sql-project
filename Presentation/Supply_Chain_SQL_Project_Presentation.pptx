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sldIdLst>
    <p:sldId id="256" r:id="rId2"/>
    <p:sldId id="257" r:id="rId3"/>
    <p:sldId id="264" r:id="rId4"/>
    <p:sldId id="258" r:id="rId5"/>
    <p:sldId id="259" r:id="rId6"/>
    <p:sldId id="260" r:id="rId7"/>
    <p:sldId id="261"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2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7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6629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4988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3838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614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2723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559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123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710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8630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020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77781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488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3683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738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6752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9485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11/28/2025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07966490"/>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Financial Analysis Report</a:t>
            </a:r>
            <a:endParaRPr dirty="0"/>
          </a:p>
        </p:txBody>
      </p:sp>
      <p:sp>
        <p:nvSpPr>
          <p:cNvPr id="3" name="Subtitle 2"/>
          <p:cNvSpPr>
            <a:spLocks noGrp="1"/>
          </p:cNvSpPr>
          <p:nvPr>
            <p:ph type="subTitle" idx="1"/>
          </p:nvPr>
        </p:nvSpPr>
        <p:spPr/>
        <p:txBody>
          <a:bodyPr>
            <a:normAutofit fontScale="92500" lnSpcReduction="20000"/>
          </a:bodyPr>
          <a:lstStyle/>
          <a:p>
            <a:r>
              <a:rPr dirty="0"/>
              <a:t>A corporate presentation on </a:t>
            </a:r>
            <a:r>
              <a:rPr lang="en-US" dirty="0"/>
              <a:t>financial functions such as PV, NPV, XNPV, IRR, MIRR, and XIRR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r>
              <a:rPr dirty="0"/>
              <a:t>This project </a:t>
            </a:r>
            <a:r>
              <a:rPr lang="en-US" dirty="0"/>
              <a:t>is to provide fundamental insights into how financial functions and terminologies. It is essential to thoroughly understand the provided documentation and terms to efficiently utilize Excel's financial functions such as PV, NPV, XNPV, IRR, MIRR, and XIRR. This project involves analyzing a prepared dataset and applying these financial functions to derive meaningful financial insights.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35AC-FF3D-9AFC-7E34-A370C4274085}"/>
              </a:ext>
            </a:extLst>
          </p:cNvPr>
          <p:cNvSpPr>
            <a:spLocks noGrp="1"/>
          </p:cNvSpPr>
          <p:nvPr>
            <p:ph type="ctrTitle"/>
          </p:nvPr>
        </p:nvSpPr>
        <p:spPr>
          <a:xfrm>
            <a:off x="770860" y="484187"/>
            <a:ext cx="7772400" cy="1470025"/>
          </a:xfrm>
        </p:spPr>
        <p:txBody>
          <a:bodyPr>
            <a:normAutofit/>
          </a:bodyPr>
          <a:lstStyle/>
          <a:p>
            <a:r>
              <a:rPr lang="en-US" sz="4400" dirty="0"/>
              <a:t>Project Scope and Objectives</a:t>
            </a:r>
          </a:p>
        </p:txBody>
      </p:sp>
      <p:sp>
        <p:nvSpPr>
          <p:cNvPr id="3" name="Subtitle 2">
            <a:extLst>
              <a:ext uri="{FF2B5EF4-FFF2-40B4-BE49-F238E27FC236}">
                <a16:creationId xmlns:a16="http://schemas.microsoft.com/office/drawing/2014/main" id="{8FC36B54-08E3-1A23-8692-F32FAC000533}"/>
              </a:ext>
            </a:extLst>
          </p:cNvPr>
          <p:cNvSpPr>
            <a:spLocks noGrp="1"/>
          </p:cNvSpPr>
          <p:nvPr>
            <p:ph type="subTitle" idx="1"/>
          </p:nvPr>
        </p:nvSpPr>
        <p:spPr>
          <a:xfrm>
            <a:off x="770860" y="1954212"/>
            <a:ext cx="7511901" cy="4444409"/>
          </a:xfrm>
        </p:spPr>
        <p:txBody>
          <a:bodyPr>
            <a:normAutofit/>
          </a:bodyPr>
          <a:lstStyle/>
          <a:p>
            <a:pPr algn="l"/>
            <a:r>
              <a:rPr lang="en-US" b="1" u="sng" dirty="0"/>
              <a:t>Scope</a:t>
            </a:r>
            <a:r>
              <a:rPr lang="en-US" dirty="0"/>
              <a:t>​</a:t>
            </a:r>
          </a:p>
          <a:p>
            <a:pPr marL="514350" indent="-514350" algn="l">
              <a:buFont typeface="+mj-lt"/>
              <a:buAutoNum type="arabicPeriod"/>
            </a:pPr>
            <a:r>
              <a:rPr lang="en-US" dirty="0"/>
              <a:t>Perform financial analysis using Excel. ​</a:t>
            </a:r>
          </a:p>
          <a:p>
            <a:pPr marL="514350" indent="-514350" algn="l">
              <a:buFont typeface="+mj-lt"/>
              <a:buAutoNum type="arabicPeriod"/>
            </a:pPr>
            <a:r>
              <a:rPr lang="en-US" dirty="0"/>
              <a:t>Solve real-world financial problems. ​</a:t>
            </a:r>
          </a:p>
          <a:p>
            <a:pPr marL="514350" indent="-514350" algn="l">
              <a:buFont typeface="+mj-lt"/>
              <a:buAutoNum type="arabicPeriod"/>
            </a:pPr>
            <a:r>
              <a:rPr lang="en-US" dirty="0"/>
              <a:t>Create a summary report. ​</a:t>
            </a:r>
          </a:p>
          <a:p>
            <a:pPr algn="l"/>
            <a:r>
              <a:rPr lang="en-US" b="1" u="sng" dirty="0"/>
              <a:t>Objectives</a:t>
            </a:r>
          </a:p>
          <a:p>
            <a:pPr marL="514350" indent="-514350" algn="l">
              <a:buFont typeface="+mj-lt"/>
              <a:buAutoNum type="arabicPeriod"/>
            </a:pPr>
            <a:r>
              <a:rPr lang="en-US" dirty="0"/>
              <a:t>Calculate PV, NPV, IRR, EMI, etc. ​</a:t>
            </a:r>
          </a:p>
          <a:p>
            <a:pPr marL="514350" indent="-514350" algn="l">
              <a:buFont typeface="+mj-lt"/>
              <a:buAutoNum type="arabicPeriod"/>
            </a:pPr>
            <a:r>
              <a:rPr lang="en-US" dirty="0"/>
              <a:t>Determine interest rates and loan terms. ​</a:t>
            </a:r>
          </a:p>
          <a:p>
            <a:pPr marL="514350" indent="-514350" algn="l">
              <a:buFont typeface="+mj-lt"/>
              <a:buAutoNum type="arabicPeriod"/>
            </a:pPr>
            <a:r>
              <a:rPr lang="en-US" dirty="0"/>
              <a:t>Generate actionable insights.</a:t>
            </a:r>
          </a:p>
        </p:txBody>
      </p:sp>
    </p:spTree>
    <p:extLst>
      <p:ext uri="{BB962C8B-B14F-4D97-AF65-F5344CB8AC3E}">
        <p14:creationId xmlns:p14="http://schemas.microsoft.com/office/powerpoint/2010/main" val="1311681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Financial Concepts</a:t>
            </a:r>
          </a:p>
        </p:txBody>
      </p:sp>
      <p:sp>
        <p:nvSpPr>
          <p:cNvPr id="3" name="Content Placeholder 2"/>
          <p:cNvSpPr>
            <a:spLocks noGrp="1"/>
          </p:cNvSpPr>
          <p:nvPr>
            <p:ph idx="1"/>
          </p:nvPr>
        </p:nvSpPr>
        <p:spPr>
          <a:xfrm>
            <a:off x="483974" y="1413933"/>
            <a:ext cx="8482226" cy="4834473"/>
          </a:xfrm>
        </p:spPr>
        <p:txBody>
          <a:bodyPr>
            <a:normAutofit/>
          </a:bodyPr>
          <a:lstStyle/>
          <a:p>
            <a:r>
              <a:rPr lang="en-US" sz="2000" b="1" dirty="0"/>
              <a:t>Annuity</a:t>
            </a:r>
            <a:r>
              <a:rPr lang="en-US" sz="2000" dirty="0"/>
              <a:t>: Understood the concept of constant cash payments over time. </a:t>
            </a:r>
          </a:p>
          <a:p>
            <a:r>
              <a:rPr lang="en-US" sz="2000" b="1" dirty="0"/>
              <a:t>Present Value (PV)</a:t>
            </a:r>
            <a:r>
              <a:rPr lang="en-US" sz="2000" dirty="0"/>
              <a:t>: Learned to calculate the current worth of future payments. </a:t>
            </a:r>
          </a:p>
          <a:p>
            <a:r>
              <a:rPr lang="en-US" sz="2000" b="1" dirty="0"/>
              <a:t>Net Present Value (NPV) and XNPV</a:t>
            </a:r>
            <a:r>
              <a:rPr lang="en-US" sz="2000" dirty="0"/>
              <a:t>: Compared different investments based on future cash flows. </a:t>
            </a:r>
          </a:p>
          <a:p>
            <a:r>
              <a:rPr lang="en-US" sz="2000" b="1" dirty="0"/>
              <a:t>EMI</a:t>
            </a:r>
            <a:r>
              <a:rPr lang="en-US" sz="2000" dirty="0"/>
              <a:t>: Determined the monthly installment for a loan and its components. </a:t>
            </a:r>
          </a:p>
          <a:p>
            <a:r>
              <a:rPr lang="en-US" sz="2000" b="1" dirty="0"/>
              <a:t>Interest Rate and Loan Term</a:t>
            </a:r>
            <a:r>
              <a:rPr lang="en-US" sz="2000" dirty="0"/>
              <a:t>: Calculated the effective interest rate and the duration required to repay a loan. </a:t>
            </a:r>
          </a:p>
          <a:p>
            <a:r>
              <a:rPr lang="en-US" sz="2000" b="1" dirty="0"/>
              <a:t>Internal Rate of Return (IRR) and Modified IRR (MIRR)</a:t>
            </a:r>
            <a:r>
              <a:rPr lang="en-US" sz="2000" dirty="0"/>
              <a:t>: Assessed the profitability of investments considering different cash flow timings and rates. </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837" y="452718"/>
            <a:ext cx="7055380" cy="1400530"/>
          </a:xfrm>
        </p:spPr>
        <p:txBody>
          <a:bodyPr/>
          <a:lstStyle/>
          <a:p>
            <a:r>
              <a:rPr lang="en-US" dirty="0"/>
              <a:t>Actionable Points</a:t>
            </a:r>
            <a:endParaRPr dirty="0"/>
          </a:p>
        </p:txBody>
      </p:sp>
      <p:sp>
        <p:nvSpPr>
          <p:cNvPr id="3" name="Content Placeholder 2"/>
          <p:cNvSpPr>
            <a:spLocks noGrp="1"/>
          </p:cNvSpPr>
          <p:nvPr>
            <p:ph idx="1"/>
          </p:nvPr>
        </p:nvSpPr>
        <p:spPr>
          <a:xfrm>
            <a:off x="579637" y="1565381"/>
            <a:ext cx="6711654" cy="4195481"/>
          </a:xfrm>
        </p:spPr>
        <p:txBody>
          <a:bodyPr/>
          <a:lstStyle/>
          <a:p>
            <a:r>
              <a:rPr lang="en-US" dirty="0"/>
              <a:t>Use PV and NPV to evaluate long-term investments.</a:t>
            </a:r>
          </a:p>
          <a:p>
            <a:r>
              <a:rPr lang="en-US" dirty="0"/>
              <a:t>Apply IRR and XIRR for irregular cash flow analysis.</a:t>
            </a:r>
          </a:p>
          <a:p>
            <a:r>
              <a:rPr lang="en-US" dirty="0"/>
              <a:t>Utilize PMT, IPMT, and PPMT for loan and EMI planning.</a:t>
            </a:r>
          </a:p>
          <a:p>
            <a:r>
              <a:rPr lang="en-US" dirty="0"/>
              <a:t>Prefer MIRR over IRR for realistic reinvestment assumptions.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Overview</a:t>
            </a:r>
          </a:p>
        </p:txBody>
      </p:sp>
      <p:sp>
        <p:nvSpPr>
          <p:cNvPr id="3" name="Content Placeholder 2"/>
          <p:cNvSpPr>
            <a:spLocks noGrp="1"/>
          </p:cNvSpPr>
          <p:nvPr>
            <p:ph idx="1"/>
          </p:nvPr>
        </p:nvSpPr>
        <p:spPr>
          <a:xfrm>
            <a:off x="548300" y="1511059"/>
            <a:ext cx="6711654" cy="4195481"/>
          </a:xfrm>
        </p:spPr>
        <p:txBody>
          <a:bodyPr>
            <a:normAutofit/>
          </a:bodyPr>
          <a:lstStyle/>
          <a:p>
            <a:r>
              <a:rPr lang="en-US" dirty="0"/>
              <a:t>PV(rate, </a:t>
            </a:r>
            <a:r>
              <a:rPr lang="en-US" dirty="0" err="1"/>
              <a:t>nper</a:t>
            </a:r>
            <a:r>
              <a:rPr lang="en-US" dirty="0"/>
              <a:t>, </a:t>
            </a:r>
            <a:r>
              <a:rPr lang="en-US" dirty="0" err="1"/>
              <a:t>pmt</a:t>
            </a:r>
            <a:r>
              <a:rPr lang="en-US" dirty="0"/>
              <a:t>, [</a:t>
            </a:r>
            <a:r>
              <a:rPr lang="en-US" dirty="0" err="1"/>
              <a:t>fv</a:t>
            </a:r>
            <a:r>
              <a:rPr lang="en-US" dirty="0"/>
              <a:t>], [type])</a:t>
            </a:r>
          </a:p>
          <a:p>
            <a:r>
              <a:rPr lang="en-US" dirty="0"/>
              <a:t>NPV(rate, value1, [value2], ...)</a:t>
            </a:r>
          </a:p>
          <a:p>
            <a:r>
              <a:rPr lang="en-US" dirty="0"/>
              <a:t>XNPV(rate, values, dates)</a:t>
            </a:r>
          </a:p>
          <a:p>
            <a:r>
              <a:rPr lang="en-US" dirty="0"/>
              <a:t>PMT(rate, </a:t>
            </a:r>
            <a:r>
              <a:rPr lang="en-US" dirty="0" err="1"/>
              <a:t>nper</a:t>
            </a:r>
            <a:r>
              <a:rPr lang="en-US" dirty="0"/>
              <a:t>, </a:t>
            </a:r>
            <a:r>
              <a:rPr lang="en-US" dirty="0" err="1"/>
              <a:t>pv</a:t>
            </a:r>
            <a:r>
              <a:rPr lang="en-US" dirty="0"/>
              <a:t>, [</a:t>
            </a:r>
            <a:r>
              <a:rPr lang="en-US" dirty="0" err="1"/>
              <a:t>fv</a:t>
            </a:r>
            <a:r>
              <a:rPr lang="en-US" dirty="0"/>
              <a:t>], [type])</a:t>
            </a:r>
          </a:p>
          <a:p>
            <a:r>
              <a:rPr lang="en-US" dirty="0"/>
              <a:t>IRR(values, [guess])</a:t>
            </a:r>
          </a:p>
          <a:p>
            <a:r>
              <a:rPr lang="en-US" dirty="0"/>
              <a:t>XIRR(values, dates, [guess])</a:t>
            </a:r>
          </a:p>
          <a:p>
            <a:r>
              <a:rPr lang="en-US" dirty="0"/>
              <a:t>MIRR(values, finance rate, reinvest 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Strategy of Financial Calculation </a:t>
            </a:r>
            <a:endParaRPr dirty="0"/>
          </a:p>
        </p:txBody>
      </p:sp>
      <p:sp>
        <p:nvSpPr>
          <p:cNvPr id="3" name="Content Placeholder 2"/>
          <p:cNvSpPr>
            <a:spLocks noGrp="1"/>
          </p:cNvSpPr>
          <p:nvPr>
            <p:ph idx="1"/>
          </p:nvPr>
        </p:nvSpPr>
        <p:spPr>
          <a:xfrm>
            <a:off x="575733" y="2052925"/>
            <a:ext cx="8229600" cy="4195481"/>
          </a:xfrm>
        </p:spPr>
        <p:txBody>
          <a:bodyPr>
            <a:normAutofit/>
          </a:bodyPr>
          <a:lstStyle/>
          <a:p>
            <a:r>
              <a:rPr lang="en-US" dirty="0"/>
              <a:t>Gather financial data and assumptions (cash flows, rates, timelines).</a:t>
            </a:r>
          </a:p>
          <a:p>
            <a:r>
              <a:rPr lang="en-US" dirty="0"/>
              <a:t>Apply appropriate Excel financial functions.</a:t>
            </a:r>
          </a:p>
          <a:p>
            <a:r>
              <a:rPr lang="en-US" dirty="0"/>
              <a:t>Compare investment options based on NPV and IRR results.</a:t>
            </a:r>
          </a:p>
          <a:p>
            <a:r>
              <a:rPr lang="en-US" dirty="0"/>
              <a:t>Interpret EMI breakdown to understand principal vs. interest.</a:t>
            </a:r>
          </a:p>
          <a:p>
            <a:r>
              <a:rPr lang="en-US" dirty="0"/>
              <a:t>Use visualizations (graphs/tables) for presentation clarity.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Discrimination </a:t>
            </a:r>
            <a:endParaRPr dirty="0"/>
          </a:p>
        </p:txBody>
      </p:sp>
      <p:sp>
        <p:nvSpPr>
          <p:cNvPr id="3" name="Content Placeholder 2"/>
          <p:cNvSpPr>
            <a:spLocks noGrp="1"/>
          </p:cNvSpPr>
          <p:nvPr>
            <p:ph idx="1"/>
          </p:nvPr>
        </p:nvSpPr>
        <p:spPr>
          <a:xfrm>
            <a:off x="484709" y="1853248"/>
            <a:ext cx="8549223" cy="4195481"/>
          </a:xfrm>
        </p:spPr>
        <p:txBody>
          <a:bodyPr/>
          <a:lstStyle/>
          <a:p>
            <a:r>
              <a:rPr lang="en-US" dirty="0"/>
              <a:t>Excel enables detailed financial modeling and scenario analysis.</a:t>
            </a:r>
          </a:p>
          <a:p>
            <a:r>
              <a:rPr lang="en-US" dirty="0"/>
              <a:t>PV, NPV, and IRR together provide a robust profitability assessment.</a:t>
            </a:r>
          </a:p>
          <a:p>
            <a:r>
              <a:rPr lang="en-US" dirty="0"/>
              <a:t>EMI analysis helps manage loans efficiently.</a:t>
            </a:r>
          </a:p>
          <a:p>
            <a:r>
              <a:rPr lang="en-US" dirty="0"/>
              <a:t>MIRR gives a more realistic view by separating finance and reinvestment rates.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Conclusions</a:t>
            </a:r>
          </a:p>
        </p:txBody>
      </p:sp>
      <p:sp>
        <p:nvSpPr>
          <p:cNvPr id="3" name="Content Placeholder 2"/>
          <p:cNvSpPr>
            <a:spLocks noGrp="1"/>
          </p:cNvSpPr>
          <p:nvPr>
            <p:ph idx="1"/>
          </p:nvPr>
        </p:nvSpPr>
        <p:spPr>
          <a:xfrm>
            <a:off x="84667" y="1625601"/>
            <a:ext cx="8754533" cy="4622806"/>
          </a:xfrm>
        </p:spPr>
        <p:txBody>
          <a:bodyPr>
            <a:normAutofit/>
          </a:bodyPr>
          <a:lstStyle/>
          <a:p>
            <a:r>
              <a:rPr lang="en-US" dirty="0"/>
              <a:t>The Financial Analysis Project in Excel enhances understanding of investment evaluation and loan management.</a:t>
            </a:r>
          </a:p>
          <a:p>
            <a:r>
              <a:rPr lang="en-US" dirty="0"/>
              <a:t>By mastering Excel functions like PV, NPV, IRR, and MIRR, financial professionals can make better data-driven decisions.</a:t>
            </a:r>
          </a:p>
          <a:p>
            <a:r>
              <a:rPr lang="en-US" dirty="0"/>
              <a:t>This project reinforces Excel as a key analytical tool in finance.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37</TotalTime>
  <Words>509</Words>
  <Application>Microsoft Office PowerPoint</Application>
  <PresentationFormat>On-screen Show (4:3)</PresentationFormat>
  <Paragraphs>48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Financial Analysis Report</vt:lpstr>
      <vt:lpstr>Introduction</vt:lpstr>
      <vt:lpstr>Project Scope and Objectives</vt:lpstr>
      <vt:lpstr>Key Financial Concepts</vt:lpstr>
      <vt:lpstr>Actionable Points</vt:lpstr>
      <vt:lpstr>Functions Overview</vt:lpstr>
      <vt:lpstr>Strategy of Financial Calculation </vt:lpstr>
      <vt:lpstr>Discrimination </vt:lpstr>
      <vt:lpstr>Conclusions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Raghunatha Reddy</dc:creator>
  <cp:keywords/>
  <dc:description>generated using python-pptx</dc:description>
  <cp:lastModifiedBy>Jayesh Bacchav</cp:lastModifiedBy>
  <cp:revision>3</cp:revision>
  <dcterms:created xsi:type="dcterms:W3CDTF">2013-01-27T09:14:16Z</dcterms:created>
  <dcterms:modified xsi:type="dcterms:W3CDTF">2025-11-28T09:05:20Z</dcterms:modified>
  <cp:category/>
</cp:coreProperties>
</file>